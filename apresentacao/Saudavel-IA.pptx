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sugerida — as três integrantes. Olá! Nós somos Larissa, Lavínia e Raissa e criamos o Saudável IA. Nossa frase de introdução é: “Um espaço para suas dúvidas sobre uma vida mais saudável”. Pensamos em pessoas de 18 a 50 anos que querem entender melhor a vida fitness e evitar ciladas. A ideia é oferecer um ponto de partida para perguntar, desconfiar de promessas milagrosas e buscar informações antes de tomar uma decisão. Tempo sugerido: 40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sugerida — Larissa. Nosso público são pessoas de 18 a 50 anos, inclusive quem está começando a se exercitar ou a cuidar melhor da alimentação. Muitas recebem anúncios com linguagem convincente e não sabem se podem confiar. Imaginem alguém querendo emagrecer e encontrando uma oferta que promete perder 10 quilos em sete dias e pede pagamento imediato. O problema não é apenas ter uma dúvida: é tomar uma decisão apressada, gastar dinheiro ou entregar dados pessoais. Esse exemplo é inventado; não é uma recomendação de saúde. Tempo: 55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sugerida — Lavínia. Escolhemos esse tema porque as dúvidas sobre uma vida saudável aparecem no cotidiano e nas redes sociais. Queríamos facilitar a busca por informação e ajudar as pessoas a não caírem em promessas milagrosas. O projeto também tem a ver com a gente como estudantes: foi uma oportunidade de aprender tecnologia construindo algo com uma finalidade concreta. Não precisamos afirmar que alguma de nós sofreu um golpe. A conexão é querer entender melhor essas mensagens e criar uma experiência simples e acolhedora. Tempo: 50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sugerida — Raissa, com o site aberto em outra aba. O objetivo do Saudável IA é apoiar escolhas mais conscientes sobre a vida fitness. É importante explicar o alcance da versão construída: ela analisa mensagens suspeitas e salva o histórico. Não apresentem o site como um serviço que já oferece dieta, diagnóstico ou treino personalizado. Mostrem a entrada na conta, a caixa de texto, o botão de análise e o link Meu histórico. Antes da apresentação, confirmem se as variáveis do Supabase e da OpenRouter estão corretas e testem uma conta de demonstração. Não mostrem senhas ou chaves na tela. Tempo: 45 segundos, mais a navegação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sugerido — Lavínia opera o site; Larissa lê a mensagem; Raissa comenta o resultado. Texto para colar: OFERTA FITNESS: perca 10 kg em 7 dias, sem mudar a alimentação. Resultado garantido! Faça um Pix de R$ 49,90 agora e envie seu CPF para garantir. A resposta do slide é apenas uma expectativa ilustrativa, não uma análise real já executada. A IA pode destacar a promessa extrema, a garantia de resultado, a urgência do Pix e o pedido de CPF. Mostrem o texto real que aparecer e a data/hora no histórico. Não cliquem em anúncios reais nem façam pagamentos. Se a demonstração falhar, usem uma captura obtida antes em um teste real e expliquem que é uma gravação ou captura de apoio. Não apresentem uma resposta simulada como execução ao vivo. Tempo: 1 minuto e 40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sugerida — dividir entre as três. Tivemos problemas reais de configuração: URL inválida, chave pública recusada e variáveis salvas em projetos diferentes da Vercel. Também apareceu um erro 500 no middleware; ajustamos o runtime para Node.js 24 e validamos a URL antes de iniciar o cliente Supabase. A atualização automática de segurança tinha conflitos em package.json e package-lock.json; preservamos Supabase e Playwright e atualizamos as dependências. A IA ajudou a investigar e escrever as correções, mas precisávamos ler os registros e testar. Os testes locais foram feitos com serviços simulados; o funcionamento no ambiente publicado deve ser conferido antes da apresentação. Não afirmem que todas as falhas de produção foram resolvidas sem essa conferência. Tempo: 1 minuto e 10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Falas sugeridas, para cada integrante adaptar ao que realmente aprendeu. Larissa: “Aprendi a verificar uma informação antes de compartilhar, pagar ou passar meus dados.” Lavínia: “Aprendi que a IA ajuda a construir, mas entender os erros e testar faz parte do trabalho.” Raissa: “Aprendi que um site precisa ser simples de usar e cuidar dos dados de quem confia nele.” Não é necessário decorar: cada uma pode explicar a frase com suas próprias palavras. Tempo: 55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sugerida — as três integrantes. Nosso projeto começou com uma preocupação: facilitar a vida de quem tem dúvidas sobre o mundo saudável e ajudar a evitar ciladas. Criar o site nos ensinou que não basta ter uma ideia ou pedir ajuda à IA: é preciso revisar, testar e explicar os limites do que construímos. Obrigada! Agora podemos responder às perguntas. Tempo: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07424" y="713232"/>
            <a:ext cx="2377440" cy="5257800"/>
          </a:xfrm>
          <a:prstGeom prst="roundRect">
            <a:avLst>
              <a:gd name="adj" fmla="val 13000"/>
            </a:avLst>
          </a:prstGeom>
          <a:solidFill>
            <a:srgbClr val="2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1920000">
            <a:off x="9738360" y="2286000"/>
            <a:ext cx="1028700" cy="1645919"/>
          </a:xfrm>
          <a:prstGeom prst="ellipse">
            <a:avLst/>
          </a:prstGeom>
          <a:solidFill>
            <a:srgbClr val="245C45"/>
          </a:solidFill>
          <a:ln w="12700">
            <a:solidFill>
              <a:srgbClr val="F4B3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20000">
            <a:off x="10035540" y="2743200"/>
            <a:ext cx="57150" cy="1485900"/>
          </a:xfrm>
          <a:prstGeom prst="rect">
            <a:avLst/>
          </a:prstGeom>
          <a:solidFill>
            <a:srgbClr val="F4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7315200" cy="34747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200" b="1">
                <a:solidFill>
                  <a:srgbClr val="B9C9BC"/>
                </a:solidFill>
                <a:latin typeface="Arial"/>
              </a:defRPr>
            </a:pPr>
            <a:r>
              <a:t>DO ZERO AO AR  /  AFESU VELEIROS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8321040" cy="109728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6200" b="0">
                <a:solidFill>
                  <a:srgbClr val="F3F3EB"/>
                </a:solidFill>
                <a:latin typeface="Lora"/>
              </a:defRPr>
            </a:pPr>
            <a:r>
              <a:t>Saudável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27248"/>
            <a:ext cx="7680960" cy="109728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700" b="0">
                <a:solidFill>
                  <a:srgbClr val="F4B393"/>
                </a:solidFill>
                <a:latin typeface="Lora"/>
              </a:defRPr>
            </a:pPr>
            <a:r>
              <a:t>Um espaço para suas dúvidas sobre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2700" b="0">
                <a:solidFill>
                  <a:srgbClr val="F4B393"/>
                </a:solidFill>
                <a:latin typeface="Lora"/>
              </a:defRPr>
            </a:pPr>
            <a:r>
              <a:t>uma vida mais saudável.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873752"/>
            <a:ext cx="7315200" cy="32004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00" b="1">
                <a:solidFill>
                  <a:srgbClr val="F3F3EB"/>
                </a:solidFill>
                <a:latin typeface="Arial"/>
              </a:defRPr>
            </a:pPr>
            <a:r>
              <a:t>LARISSA  ·  LAVÍNIA  ·  RAISSA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376672"/>
            <a:ext cx="7680960" cy="54864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00" b="0">
                <a:solidFill>
                  <a:srgbClr val="B9C9BC"/>
                </a:solidFill>
                <a:latin typeface="Arial"/>
              </a:defRPr>
            </a:pPr>
            <a:r>
              <a:t>Informação mais clara para escolhas mais conscientes.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6364224"/>
            <a:ext cx="10789920" cy="12801"/>
          </a:xfrm>
          <a:prstGeom prst="rect">
            <a:avLst/>
          </a:prstGeom>
          <a:solidFill>
            <a:srgbClr val="35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6492240"/>
            <a:ext cx="9692640" cy="21031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000" b="0">
                <a:solidFill>
                  <a:srgbClr val="B9C9BC"/>
                </a:solidFill>
                <a:latin typeface="Arial"/>
              </a:defRPr>
            </a:pPr>
            <a:r>
              <a:t>Saudável IA  ·  Do Zero ao Ar  ·  Afesu Veleiros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64808"/>
            <a:ext cx="594360" cy="23774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 algn="r">
              <a:lnSpc>
                <a:spcPct val="118000"/>
              </a:lnSpc>
              <a:spcAft>
                <a:spcPts val="800"/>
              </a:spcAft>
              <a:defRPr sz="1100" b="0">
                <a:solidFill>
                  <a:srgbClr val="F4B393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38912"/>
            <a:ext cx="73152" cy="256032"/>
          </a:xfrm>
          <a:prstGeom prst="rect">
            <a:avLst/>
          </a:prstGeom>
          <a:solidFill>
            <a:srgbClr val="F4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38912"/>
            <a:ext cx="10058400" cy="292608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100" b="1">
                <a:solidFill>
                  <a:srgbClr val="B9C9BC"/>
                </a:solidFill>
                <a:latin typeface="Arial"/>
              </a:defRPr>
            </a:pPr>
            <a:r>
              <a:t>01 / 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41832"/>
            <a:ext cx="10835640" cy="7315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3500" b="0">
                <a:solidFill>
                  <a:srgbClr val="F3F3EB"/>
                </a:solidFill>
                <a:latin typeface="Lora"/>
              </a:defRPr>
            </a:pPr>
            <a:r>
              <a:t>Cuidar da saúde também exige informação.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55648"/>
            <a:ext cx="10698480" cy="676656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00" b="0">
                <a:solidFill>
                  <a:srgbClr val="B9C9BC"/>
                </a:solidFill>
                <a:latin typeface="Arial"/>
              </a:defRPr>
            </a:pPr>
            <a:r>
              <a:t>Pessoas de 18 a 50 anos encontram dúvidas e muitas promessas nas redes sociais.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624328"/>
            <a:ext cx="3410712" cy="2651760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2624328"/>
            <a:ext cx="3410712" cy="2651760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65008" y="2624328"/>
            <a:ext cx="3410712" cy="2651760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52928"/>
            <a:ext cx="2926080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3200" b="0">
                <a:solidFill>
                  <a:srgbClr val="F4B393"/>
                </a:solidFill>
                <a:latin typeface="Lora"/>
              </a:defRPr>
            </a:pPr>
            <a:r>
              <a:t>18–50 anos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602736"/>
            <a:ext cx="2926080" cy="137160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00" b="0">
                <a:solidFill>
                  <a:srgbClr val="F3F3EB"/>
                </a:solidFill>
                <a:latin typeface="Arial"/>
              </a:defRPr>
            </a:pPr>
            <a:r>
              <a:t>Quem quer começar a treinar, comer melhor ou mudar hábitos.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871216"/>
            <a:ext cx="2926080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500" b="0">
                <a:solidFill>
                  <a:srgbClr val="F4B393"/>
                </a:solidFill>
                <a:latin typeface="Lora"/>
              </a:defRPr>
            </a:pPr>
            <a:r>
              <a:t>Muita promessa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621024"/>
            <a:ext cx="2926080" cy="132588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00" b="0">
                <a:solidFill>
                  <a:srgbClr val="F3F3EB"/>
                </a:solidFill>
                <a:latin typeface="Arial"/>
              </a:defRPr>
            </a:pPr>
            <a:r>
              <a:t>Fica difícil separar informação útil, propaganda e golpe.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871216"/>
            <a:ext cx="2926080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500" b="0">
                <a:solidFill>
                  <a:srgbClr val="F4B393"/>
                </a:solidFill>
                <a:latin typeface="Lora"/>
              </a:defRPr>
            </a:pPr>
            <a:r>
              <a:t>Um exemplo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3621024"/>
            <a:ext cx="2926080" cy="146304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00" b="0">
                <a:solidFill>
                  <a:srgbClr val="F3F3EB"/>
                </a:solidFill>
                <a:latin typeface="Arial"/>
              </a:defRPr>
            </a:pPr>
            <a:r>
              <a:t>Um anúncio oferece perder 10 kg em 7 dias e pede um Pix imediato.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596128"/>
            <a:ext cx="10698480" cy="5029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500" b="0">
                <a:solidFill>
                  <a:srgbClr val="F4B393"/>
                </a:solidFill>
                <a:latin typeface="Lora"/>
              </a:defRPr>
            </a:pPr>
            <a:r>
              <a:t>Como tirar a dúvida antes de acreditar, clicar ou pagar?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6364224"/>
            <a:ext cx="10789920" cy="12801"/>
          </a:xfrm>
          <a:prstGeom prst="rect">
            <a:avLst/>
          </a:prstGeom>
          <a:solidFill>
            <a:srgbClr val="35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492240"/>
            <a:ext cx="9692640" cy="21031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000" b="0">
                <a:solidFill>
                  <a:srgbClr val="B9C9BC"/>
                </a:solidFill>
                <a:latin typeface="Arial"/>
              </a:defRPr>
            </a:pPr>
            <a:r>
              <a:t>Saudável IA  ·  Do Zero ao Ar  ·  Afesu Veleiros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64808"/>
            <a:ext cx="594360" cy="23774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 algn="r">
              <a:lnSpc>
                <a:spcPct val="118000"/>
              </a:lnSpc>
              <a:spcAft>
                <a:spcPts val="800"/>
              </a:spcAft>
              <a:defRPr sz="1100" b="0">
                <a:solidFill>
                  <a:srgbClr val="F4B393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38912"/>
            <a:ext cx="73152" cy="256032"/>
          </a:xfrm>
          <a:prstGeom prst="rect">
            <a:avLst/>
          </a:prstGeom>
          <a:solidFill>
            <a:srgbClr val="F4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38912"/>
            <a:ext cx="10058400" cy="292608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100" b="1">
                <a:solidFill>
                  <a:srgbClr val="B9C9BC"/>
                </a:solidFill>
                <a:latin typeface="Arial"/>
              </a:defRPr>
            </a:pPr>
            <a:r>
              <a:t>02 / POR QUE ESCOLHEMOS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41832"/>
            <a:ext cx="10835640" cy="7315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3500" b="0">
                <a:solidFill>
                  <a:srgbClr val="F3F3EB"/>
                </a:solidFill>
                <a:latin typeface="Lora"/>
              </a:defRPr>
            </a:pPr>
            <a:r>
              <a:t>Perguntar antes de cair em uma cilada.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55648"/>
            <a:ext cx="10698480" cy="676656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00" b="0">
                <a:solidFill>
                  <a:srgbClr val="B9C9BC"/>
                </a:solidFill>
                <a:latin typeface="Arial"/>
              </a:defRPr>
            </a:pPr>
            <a:r>
              <a:t>Queríamos facilitar a vida de quem busca uma rotina mais saudável.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606040"/>
            <a:ext cx="6492240" cy="3200400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907792"/>
            <a:ext cx="5870448" cy="201168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900" b="0">
                <a:solidFill>
                  <a:srgbClr val="F3F3EB"/>
                </a:solidFill>
                <a:latin typeface="Lora"/>
              </a:defRPr>
            </a:pPr>
            <a:r>
              <a:t>“Um lugar simples para perguntar antes de acreditar, comprar ou compartilhar.”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74920"/>
            <a:ext cx="5806440" cy="5029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É um tema presente nas redes sociais e nas escolhas do dia a dia.</a:t>
            </a:r>
          </a:p>
        </p:txBody>
      </p:sp>
      <p:sp>
        <p:nvSpPr>
          <p:cNvPr id="9" name="Oval 8"/>
          <p:cNvSpPr/>
          <p:nvPr/>
        </p:nvSpPr>
        <p:spPr>
          <a:xfrm>
            <a:off x="7543800" y="2651760"/>
            <a:ext cx="384048" cy="384048"/>
          </a:xfrm>
          <a:prstGeom prst="ellipse">
            <a:avLst/>
          </a:prstGeom>
          <a:solidFill>
            <a:srgbClr val="F4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674620"/>
            <a:ext cx="384048" cy="2743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 algn="ctr">
              <a:lnSpc>
                <a:spcPct val="118000"/>
              </a:lnSpc>
              <a:spcAft>
                <a:spcPts val="800"/>
              </a:spcAft>
              <a:defRPr sz="1300" b="1">
                <a:solidFill>
                  <a:srgbClr val="0B151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1583" y="2633472"/>
            <a:ext cx="3383280" cy="34747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00" b="1">
                <a:solidFill>
                  <a:srgbClr val="F3F3EB"/>
                </a:solidFill>
                <a:latin typeface="Arial"/>
              </a:defRPr>
            </a:pPr>
            <a:r>
              <a:t>Uma necessidade próxima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3054096"/>
            <a:ext cx="3337560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Dúvidas sobre hábitos e vida fitness.</a:t>
            </a:r>
          </a:p>
        </p:txBody>
      </p:sp>
      <p:sp>
        <p:nvSpPr>
          <p:cNvPr id="13" name="Oval 12"/>
          <p:cNvSpPr/>
          <p:nvPr/>
        </p:nvSpPr>
        <p:spPr>
          <a:xfrm>
            <a:off x="7543800" y="3730752"/>
            <a:ext cx="384048" cy="384048"/>
          </a:xfrm>
          <a:prstGeom prst="ellipse">
            <a:avLst/>
          </a:prstGeom>
          <a:solidFill>
            <a:srgbClr val="F4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3753612"/>
            <a:ext cx="384048" cy="2743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 algn="ctr">
              <a:lnSpc>
                <a:spcPct val="118000"/>
              </a:lnSpc>
              <a:spcAft>
                <a:spcPts val="800"/>
              </a:spcAft>
              <a:defRPr sz="1300" b="1">
                <a:solidFill>
                  <a:srgbClr val="0B151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3712464"/>
            <a:ext cx="3383280" cy="34747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00" b="1">
                <a:solidFill>
                  <a:srgbClr val="F3F3EB"/>
                </a:solidFill>
                <a:latin typeface="Arial"/>
              </a:defRPr>
            </a:pPr>
            <a:r>
              <a:t>Um cuidado com as pessoas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4133088"/>
            <a:ext cx="3337560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Menos pressa, desinformação e ciladas.</a:t>
            </a:r>
          </a:p>
        </p:txBody>
      </p:sp>
      <p:sp>
        <p:nvSpPr>
          <p:cNvPr id="17" name="Oval 16"/>
          <p:cNvSpPr/>
          <p:nvPr/>
        </p:nvSpPr>
        <p:spPr>
          <a:xfrm>
            <a:off x="7543800" y="4809744"/>
            <a:ext cx="384048" cy="384048"/>
          </a:xfrm>
          <a:prstGeom prst="ellipse">
            <a:avLst/>
          </a:prstGeom>
          <a:solidFill>
            <a:srgbClr val="F4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832604"/>
            <a:ext cx="384048" cy="2743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 algn="ctr">
              <a:lnSpc>
                <a:spcPct val="118000"/>
              </a:lnSpc>
              <a:spcAft>
                <a:spcPts val="800"/>
              </a:spcAft>
              <a:defRPr sz="1300" b="1">
                <a:solidFill>
                  <a:srgbClr val="0B151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4791456"/>
            <a:ext cx="3383280" cy="34747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00" b="1">
                <a:solidFill>
                  <a:srgbClr val="F3F3EB"/>
                </a:solidFill>
                <a:latin typeface="Arial"/>
              </a:defRPr>
            </a:pPr>
            <a:r>
              <a:t>Tecnologia com propósito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5212080"/>
            <a:ext cx="3337560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Aprender criando algo que pode ajudar.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" y="6364224"/>
            <a:ext cx="10789920" cy="12801"/>
          </a:xfrm>
          <a:prstGeom prst="rect">
            <a:avLst/>
          </a:prstGeom>
          <a:solidFill>
            <a:srgbClr val="35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6492240"/>
            <a:ext cx="9692640" cy="21031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000" b="0">
                <a:solidFill>
                  <a:srgbClr val="B9C9BC"/>
                </a:solidFill>
                <a:latin typeface="Arial"/>
              </a:defRPr>
            </a:pPr>
            <a:r>
              <a:t>Saudável IA  ·  Do Zero ao Ar  ·  Afesu Veleiros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64808"/>
            <a:ext cx="594360" cy="23774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 algn="r">
              <a:lnSpc>
                <a:spcPct val="118000"/>
              </a:lnSpc>
              <a:spcAft>
                <a:spcPts val="800"/>
              </a:spcAft>
              <a:defRPr sz="1100" b="0">
                <a:solidFill>
                  <a:srgbClr val="F4B393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38912"/>
            <a:ext cx="73152" cy="256032"/>
          </a:xfrm>
          <a:prstGeom prst="rect">
            <a:avLst/>
          </a:prstGeom>
          <a:solidFill>
            <a:srgbClr val="F4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38912"/>
            <a:ext cx="10058400" cy="292608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100" b="1">
                <a:solidFill>
                  <a:srgbClr val="B9C9BC"/>
                </a:solidFill>
                <a:latin typeface="Arial"/>
              </a:defRPr>
            </a:pPr>
            <a:r>
              <a:t>03 / DEMONSTRAÇÃO AO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41832"/>
            <a:ext cx="10835640" cy="7315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3500" b="0">
                <a:solidFill>
                  <a:srgbClr val="F3F3EB"/>
                </a:solidFill>
                <a:latin typeface="Lora"/>
              </a:defRPr>
            </a:pPr>
            <a:r>
              <a:t>Uma dúvida. Um caminho simples.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55648"/>
            <a:ext cx="10698480" cy="676656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00" b="0">
                <a:solidFill>
                  <a:srgbClr val="B9C9BC"/>
                </a:solidFill>
                <a:latin typeface="Arial"/>
              </a:defRPr>
            </a:pPr>
            <a:r>
              <a:t>Nesta versão, analisamos mensagens suspeitas e guardamos as respostas na conta da pessoa.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761488"/>
            <a:ext cx="2542032" cy="2468880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53512"/>
            <a:ext cx="2011680" cy="42062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500" b="0">
                <a:solidFill>
                  <a:srgbClr val="F4B393"/>
                </a:solidFill>
                <a:latin typeface="Lora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02736"/>
            <a:ext cx="2103120" cy="39319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500" b="0">
                <a:solidFill>
                  <a:srgbClr val="F3F3EB"/>
                </a:solidFill>
                <a:latin typeface="Lora"/>
              </a:defRPr>
            </a:pPr>
            <a:r>
              <a:t>Entrar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9663"/>
            <a:ext cx="2103120" cy="91440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Usar uma conta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no site.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761488"/>
            <a:ext cx="2542032" cy="2468880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2953512"/>
            <a:ext cx="2011680" cy="42062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500" b="0">
                <a:solidFill>
                  <a:srgbClr val="F4B393"/>
                </a:solidFill>
                <a:latin typeface="Lora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3602736"/>
            <a:ext cx="2103120" cy="39319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500" b="0">
                <a:solidFill>
                  <a:srgbClr val="F3F3EB"/>
                </a:solidFill>
                <a:latin typeface="Lora"/>
              </a:defRPr>
            </a:pPr>
            <a:r>
              <a:t>Colar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4169663"/>
            <a:ext cx="2103120" cy="91440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Inserir a mensagem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recebida.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761488"/>
            <a:ext cx="2542032" cy="2468880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953512"/>
            <a:ext cx="2011680" cy="42062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500" b="0">
                <a:solidFill>
                  <a:srgbClr val="F4B393"/>
                </a:solidFill>
                <a:latin typeface="Lor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602736"/>
            <a:ext cx="2103120" cy="39319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500" b="0">
                <a:solidFill>
                  <a:srgbClr val="F3F3EB"/>
                </a:solidFill>
                <a:latin typeface="Lora"/>
              </a:defRPr>
            </a:pPr>
            <a:r>
              <a:t>Analisar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4169663"/>
            <a:ext cx="2103120" cy="91440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Ler os sinais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e as orientações.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2761488"/>
            <a:ext cx="2542032" cy="2468880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2953512"/>
            <a:ext cx="2011680" cy="42062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500" b="0">
                <a:solidFill>
                  <a:srgbClr val="F4B393"/>
                </a:solidFill>
                <a:latin typeface="Lora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3602736"/>
            <a:ext cx="2103120" cy="39319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500" b="0">
                <a:solidFill>
                  <a:srgbClr val="F3F3EB"/>
                </a:solidFill>
                <a:latin typeface="Lora"/>
              </a:defRPr>
            </a:pPr>
            <a:r>
              <a:t>Consultar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4169663"/>
            <a:ext cx="2103120" cy="91440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Abrir “Meu histórico”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e rever a resposta.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358384"/>
            <a:ext cx="10817352" cy="612648"/>
          </a:xfrm>
          <a:prstGeom prst="roundRect">
            <a:avLst>
              <a:gd name="adj" fmla="val 13000"/>
            </a:avLst>
          </a:prstGeom>
          <a:solidFill>
            <a:srgbClr val="2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495544"/>
            <a:ext cx="10378440" cy="32918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3F3EB"/>
                </a:solidFill>
                <a:latin typeface="Arial"/>
              </a:defRPr>
            </a:pPr>
            <a:r>
              <a:t>A IA é uma ajuda para refletir. Não substitui orientação profissional de saúde.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" y="6364224"/>
            <a:ext cx="10789920" cy="12801"/>
          </a:xfrm>
          <a:prstGeom prst="rect">
            <a:avLst/>
          </a:prstGeom>
          <a:solidFill>
            <a:srgbClr val="35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492240"/>
            <a:ext cx="9692640" cy="21031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000" b="0">
                <a:solidFill>
                  <a:srgbClr val="B9C9BC"/>
                </a:solidFill>
                <a:latin typeface="Arial"/>
              </a:defRPr>
            </a:pPr>
            <a:r>
              <a:t>Saudável IA  ·  Do Zero ao Ar  ·  Afesu Veleiros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64808"/>
            <a:ext cx="594360" cy="23774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 algn="r">
              <a:lnSpc>
                <a:spcPct val="118000"/>
              </a:lnSpc>
              <a:spcAft>
                <a:spcPts val="800"/>
              </a:spcAft>
              <a:defRPr sz="1100" b="0">
                <a:solidFill>
                  <a:srgbClr val="F4B393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38912"/>
            <a:ext cx="73152" cy="256032"/>
          </a:xfrm>
          <a:prstGeom prst="rect">
            <a:avLst/>
          </a:prstGeom>
          <a:solidFill>
            <a:srgbClr val="F4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38912"/>
            <a:ext cx="10058400" cy="292608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100" b="1">
                <a:solidFill>
                  <a:srgbClr val="B9C9BC"/>
                </a:solidFill>
                <a:latin typeface="Arial"/>
              </a:defRPr>
            </a:pPr>
            <a:r>
              <a:t>03 / DEMONSTRAÇÃO AO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41832"/>
            <a:ext cx="10835640" cy="7315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3500" b="0">
                <a:solidFill>
                  <a:srgbClr val="F3F3EB"/>
                </a:solidFill>
                <a:latin typeface="Lora"/>
              </a:defRPr>
            </a:pPr>
            <a:r>
              <a:t>Vamos testar uma promessa fitness.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55648"/>
            <a:ext cx="10698480" cy="676656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00" b="0">
                <a:solidFill>
                  <a:srgbClr val="B9C9BC"/>
                </a:solidFill>
                <a:latin typeface="Arial"/>
              </a:defRPr>
            </a:pPr>
            <a:r>
              <a:t>Cole o exemplo no site, clique em analisar e depois abra “Meu histórico”.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670048"/>
            <a:ext cx="5257800" cy="3072384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2670048"/>
            <a:ext cx="5321808" cy="3072384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852928"/>
            <a:ext cx="4709160" cy="3657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200" b="0">
                <a:solidFill>
                  <a:srgbClr val="F4B393"/>
                </a:solidFill>
                <a:latin typeface="Lora"/>
              </a:defRPr>
            </a:pPr>
            <a:r>
              <a:t>Mensagem fictícia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520440"/>
            <a:ext cx="4663440" cy="188366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200" b="0">
                <a:solidFill>
                  <a:srgbClr val="F3F3EB"/>
                </a:solidFill>
                <a:latin typeface="Arial"/>
              </a:defRPr>
            </a:pPr>
            <a:r>
              <a:t>OFERTA FITNESS: perca 10 kg em 7 dias, sem mudar a alimentação. Resultado garantido! Faça um Pix de R$ 49,90 agora e envie seu CPF para garantir.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852928"/>
            <a:ext cx="4754880" cy="3657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200" b="0">
                <a:solidFill>
                  <a:srgbClr val="F4B393"/>
                </a:solidFill>
                <a:latin typeface="Lora"/>
              </a:defRPr>
            </a:pPr>
            <a:r>
              <a:t>Resposta esperada — exemplo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55664" y="3465576"/>
            <a:ext cx="4572000" cy="475488"/>
          </a:xfrm>
          <a:prstGeom prst="roundRect">
            <a:avLst>
              <a:gd name="adj" fmla="val 13000"/>
            </a:avLst>
          </a:prstGeom>
          <a:solidFill>
            <a:srgbClr val="F4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3547872"/>
            <a:ext cx="4334256" cy="25603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 b="1">
                <a:solidFill>
                  <a:srgbClr val="0B1510"/>
                </a:solidFill>
                <a:latin typeface="Arial"/>
              </a:defRPr>
            </a:pPr>
            <a:r>
              <a:t>PROVAVELMENTE É GOLPE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4169663"/>
            <a:ext cx="4690872" cy="91440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000" b="0">
                <a:solidFill>
                  <a:srgbClr val="F3F3EB"/>
                </a:solidFill>
                <a:latin typeface="Arial"/>
              </a:defRPr>
            </a:pPr>
            <a:r>
              <a:t>Sinais: promessa milagrosa, pressão para pagar e pedido de dados.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5020056"/>
            <a:ext cx="4690872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B9C9BC"/>
                </a:solidFill>
                <a:latin typeface="Arial"/>
              </a:defRPr>
            </a:pPr>
            <a:r>
              <a:t>Agora: não pagar; confirmar a origem; buscar orientação confiável.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925312"/>
            <a:ext cx="10698480" cy="2743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300" b="0">
                <a:solidFill>
                  <a:srgbClr val="B9C9BC"/>
                </a:solidFill>
                <a:latin typeface="Arial"/>
              </a:defRPr>
            </a:pPr>
            <a:r>
              <a:t>Exemplo inventado. A saída real pode variar: na demonstração, mostrem o que o site retornar.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6364224"/>
            <a:ext cx="10789920" cy="12801"/>
          </a:xfrm>
          <a:prstGeom prst="rect">
            <a:avLst/>
          </a:prstGeom>
          <a:solidFill>
            <a:srgbClr val="35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492240"/>
            <a:ext cx="9692640" cy="21031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000" b="0">
                <a:solidFill>
                  <a:srgbClr val="B9C9BC"/>
                </a:solidFill>
                <a:latin typeface="Arial"/>
              </a:defRPr>
            </a:pPr>
            <a:r>
              <a:t>Saudável IA  ·  Do Zero ao Ar  ·  Afesu Veleiros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64808"/>
            <a:ext cx="594360" cy="23774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 algn="r">
              <a:lnSpc>
                <a:spcPct val="118000"/>
              </a:lnSpc>
              <a:spcAft>
                <a:spcPts val="800"/>
              </a:spcAft>
              <a:defRPr sz="1100" b="0">
                <a:solidFill>
                  <a:srgbClr val="F4B393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38912"/>
            <a:ext cx="73152" cy="256032"/>
          </a:xfrm>
          <a:prstGeom prst="rect">
            <a:avLst/>
          </a:prstGeom>
          <a:solidFill>
            <a:srgbClr val="F4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38912"/>
            <a:ext cx="10058400" cy="292608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100" b="1">
                <a:solidFill>
                  <a:srgbClr val="B9C9BC"/>
                </a:solidFill>
                <a:latin typeface="Arial"/>
              </a:defRPr>
            </a:pPr>
            <a:r>
              <a:t>04 / O QUE DEU ERRADO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41832"/>
            <a:ext cx="10835640" cy="7315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3500" b="0">
                <a:solidFill>
                  <a:srgbClr val="F3F3EB"/>
                </a:solidFill>
                <a:latin typeface="Lora"/>
              </a:defRPr>
            </a:pPr>
            <a:r>
              <a:t>Aprendemos a investigar os erros.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55648"/>
            <a:ext cx="10698480" cy="676656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00" b="0">
                <a:solidFill>
                  <a:srgbClr val="B9C9BC"/>
                </a:solidFill>
                <a:latin typeface="Arial"/>
              </a:defRPr>
            </a:pPr>
            <a:r>
              <a:t>Com ajuda da IA, ajustamos o código — e conferimos com testes e registros.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624328"/>
            <a:ext cx="4754880" cy="2743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200" b="1">
                <a:solidFill>
                  <a:srgbClr val="F4B393"/>
                </a:solidFill>
                <a:latin typeface="Arial"/>
              </a:defRPr>
            </a:pPr>
            <a:r>
              <a:t>O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2" y="2624328"/>
            <a:ext cx="4754880" cy="2743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200" b="1">
                <a:solidFill>
                  <a:srgbClr val="F4B393"/>
                </a:solidFill>
                <a:latin typeface="Arial"/>
              </a:defRPr>
            </a:pPr>
            <a:r>
              <a:t>O QUE FIZEMOS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063240"/>
            <a:ext cx="10817352" cy="795528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154680"/>
            <a:ext cx="2441448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 b="1">
                <a:solidFill>
                  <a:srgbClr val="F3F3EB"/>
                </a:solidFill>
                <a:latin typeface="Arial"/>
              </a:defRPr>
            </a:pPr>
            <a:r>
              <a:t>Falhas no acesso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3154680"/>
            <a:ext cx="2633472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URL ou chave inválida.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3154680"/>
            <a:ext cx="4754880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3F3EB"/>
                </a:solidFill>
                <a:latin typeface="Arial"/>
              </a:defRPr>
            </a:pPr>
            <a:r>
              <a:t>Revisamos as variáveis e criamos mensagens de erro mais claras.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968496"/>
            <a:ext cx="10817352" cy="795528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59935"/>
            <a:ext cx="2441448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 b="1">
                <a:solidFill>
                  <a:srgbClr val="F3F3EB"/>
                </a:solidFill>
                <a:latin typeface="Arial"/>
              </a:defRPr>
            </a:pPr>
            <a:r>
              <a:t>Erro 500 ao abrir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4059935"/>
            <a:ext cx="2633472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Falha antes do login.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4059935"/>
            <a:ext cx="4754880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3F3EB"/>
                </a:solidFill>
                <a:latin typeface="Arial"/>
              </a:defRPr>
            </a:pPr>
            <a:r>
              <a:t>Ajustamos o ambiente do servidor e validamos a URL antes de conectar.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873752"/>
            <a:ext cx="10817352" cy="795528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965192"/>
            <a:ext cx="2441448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 b="1">
                <a:solidFill>
                  <a:srgbClr val="F3F3EB"/>
                </a:solidFill>
                <a:latin typeface="Arial"/>
              </a:defRPr>
            </a:pPr>
            <a:r>
              <a:t>Atualização com conflitos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4965192"/>
            <a:ext cx="2633472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B9C9BC"/>
                </a:solidFill>
                <a:latin typeface="Arial"/>
              </a:defRPr>
            </a:pPr>
            <a:r>
              <a:t>Dependências em conflito.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965192"/>
            <a:ext cx="4754880" cy="59436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800" b="0">
                <a:solidFill>
                  <a:srgbClr val="F3F3EB"/>
                </a:solidFill>
                <a:latin typeface="Arial"/>
              </a:defRPr>
            </a:pPr>
            <a:r>
              <a:t>Preservamos as bibliotecas atuais e validamos a atualização de segurança.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961888"/>
            <a:ext cx="10698480" cy="2743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 b="0">
                <a:solidFill>
                  <a:srgbClr val="F4B393"/>
                </a:solidFill>
                <a:latin typeface="Arial"/>
              </a:defRPr>
            </a:pPr>
            <a:r>
              <a:t>Nosso processo: ler o erro → investigar → corrigir → testar novamente.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" y="6364224"/>
            <a:ext cx="10789920" cy="12801"/>
          </a:xfrm>
          <a:prstGeom prst="rect">
            <a:avLst/>
          </a:prstGeom>
          <a:solidFill>
            <a:srgbClr val="35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6492240"/>
            <a:ext cx="9692640" cy="21031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000" b="0">
                <a:solidFill>
                  <a:srgbClr val="B9C9BC"/>
                </a:solidFill>
                <a:latin typeface="Arial"/>
              </a:defRPr>
            </a:pPr>
            <a:r>
              <a:t>Saudável IA  ·  Do Zero ao Ar  ·  Afesu Veleiros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64808"/>
            <a:ext cx="594360" cy="23774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 algn="r">
              <a:lnSpc>
                <a:spcPct val="118000"/>
              </a:lnSpc>
              <a:spcAft>
                <a:spcPts val="800"/>
              </a:spcAft>
              <a:defRPr sz="1100" b="0">
                <a:solidFill>
                  <a:srgbClr val="F4B393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38912"/>
            <a:ext cx="73152" cy="256032"/>
          </a:xfrm>
          <a:prstGeom prst="rect">
            <a:avLst/>
          </a:prstGeom>
          <a:solidFill>
            <a:srgbClr val="F4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38912"/>
            <a:ext cx="10058400" cy="292608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100" b="1">
                <a:solidFill>
                  <a:srgbClr val="B9C9BC"/>
                </a:solidFill>
                <a:latin typeface="Arial"/>
              </a:defRPr>
            </a:pPr>
            <a:r>
              <a:t>05 / O QUE APRENDEMOS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41832"/>
            <a:ext cx="10835640" cy="7315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3500" b="0">
                <a:solidFill>
                  <a:srgbClr val="F3F3EB"/>
                </a:solidFill>
                <a:latin typeface="Lora"/>
              </a:defRPr>
            </a:pPr>
            <a:r>
              <a:t>Três aprendizados que ficam.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55648"/>
            <a:ext cx="10698480" cy="676656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00" b="0">
                <a:solidFill>
                  <a:srgbClr val="B9C9BC"/>
                </a:solidFill>
                <a:latin typeface="Arial"/>
              </a:defRPr>
            </a:pPr>
            <a:r>
              <a:t>Tecnologia, senso crítico e cuidado com as pessoas.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724912"/>
            <a:ext cx="3419856" cy="3035808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971800"/>
            <a:ext cx="2926080" cy="54864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800" b="0">
                <a:solidFill>
                  <a:srgbClr val="F4B393"/>
                </a:solidFill>
                <a:latin typeface="Lora"/>
              </a:defRPr>
            </a:pPr>
            <a:r>
              <a:t>Larissa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730752"/>
            <a:ext cx="2907792" cy="192024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000" b="0">
                <a:solidFill>
                  <a:srgbClr val="F3F3EB"/>
                </a:solidFill>
                <a:latin typeface="Arial"/>
              </a:defRPr>
            </a:pPr>
            <a:r>
              <a:t>“Aprendi a verificar uma informação antes de compartilhar, pagar ou passar meus dados.”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24912"/>
            <a:ext cx="3419856" cy="3035808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2971800"/>
            <a:ext cx="2926080" cy="54864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800" b="0">
                <a:solidFill>
                  <a:srgbClr val="F4B393"/>
                </a:solidFill>
                <a:latin typeface="Lora"/>
              </a:defRPr>
            </a:pPr>
            <a:r>
              <a:t>Lavínia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3730752"/>
            <a:ext cx="2907792" cy="192024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000" b="0">
                <a:solidFill>
                  <a:srgbClr val="F3F3EB"/>
                </a:solidFill>
                <a:latin typeface="Arial"/>
              </a:defRPr>
            </a:pPr>
            <a:r>
              <a:t>“Aprendi que a IA ajuda a construir, mas entender os erros e testar faz parte do trabalho.”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7" y="2724912"/>
            <a:ext cx="3419856" cy="3035808"/>
          </a:xfrm>
          <a:prstGeom prst="roundRect">
            <a:avLst>
              <a:gd name="adj" fmla="val 13000"/>
            </a:avLst>
          </a:prstGeom>
          <a:solidFill>
            <a:srgbClr val="14261C"/>
          </a:solidFill>
          <a:ln w="12700">
            <a:solidFill>
              <a:srgbClr val="355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1" y="2971800"/>
            <a:ext cx="2926080" cy="54864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800" b="0">
                <a:solidFill>
                  <a:srgbClr val="F4B393"/>
                </a:solidFill>
                <a:latin typeface="Lora"/>
              </a:defRPr>
            </a:pPr>
            <a:r>
              <a:t>Raissa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1" y="3730752"/>
            <a:ext cx="2907792" cy="192024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000" b="0">
                <a:solidFill>
                  <a:srgbClr val="F3F3EB"/>
                </a:solidFill>
                <a:latin typeface="Arial"/>
              </a:defRPr>
            </a:pPr>
            <a:r>
              <a:t>“Aprendi que um site precisa ser simples de usar e cuidar dos dados de quem confia nele.”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897880"/>
            <a:ext cx="10698480" cy="27432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300" b="0">
                <a:solidFill>
                  <a:srgbClr val="B9C9BC"/>
                </a:solidFill>
                <a:latin typeface="Arial"/>
              </a:defRPr>
            </a:pPr>
            <a:r>
              <a:t>Falas sugeridas: cada integrante pode adaptar a frase à sua própria experiência.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6364224"/>
            <a:ext cx="10789920" cy="12801"/>
          </a:xfrm>
          <a:prstGeom prst="rect">
            <a:avLst/>
          </a:prstGeom>
          <a:solidFill>
            <a:srgbClr val="35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492240"/>
            <a:ext cx="9692640" cy="21031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000" b="0">
                <a:solidFill>
                  <a:srgbClr val="B9C9BC"/>
                </a:solidFill>
                <a:latin typeface="Arial"/>
              </a:defRPr>
            </a:pPr>
            <a:r>
              <a:t>Saudável IA  ·  Do Zero ao Ar  ·  Afesu Veleiros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64808"/>
            <a:ext cx="594360" cy="23774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 algn="r">
              <a:lnSpc>
                <a:spcPct val="118000"/>
              </a:lnSpc>
              <a:spcAft>
                <a:spcPts val="800"/>
              </a:spcAft>
              <a:defRPr sz="1100" b="0">
                <a:solidFill>
                  <a:srgbClr val="F4B393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1920000">
            <a:off x="786384" y="603504"/>
            <a:ext cx="452628" cy="724204"/>
          </a:xfrm>
          <a:prstGeom prst="ellipse">
            <a:avLst/>
          </a:prstGeom>
          <a:solidFill>
            <a:srgbClr val="245C45"/>
          </a:solidFill>
          <a:ln w="12700">
            <a:solidFill>
              <a:srgbClr val="F4B3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920000">
            <a:off x="917143" y="804672"/>
            <a:ext cx="25146" cy="653796"/>
          </a:xfrm>
          <a:prstGeom prst="rect">
            <a:avLst/>
          </a:prstGeom>
          <a:solidFill>
            <a:srgbClr val="F4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777240"/>
            <a:ext cx="8229600" cy="41148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600" b="1">
                <a:solidFill>
                  <a:srgbClr val="B9C9BC"/>
                </a:solidFill>
                <a:latin typeface="Arial"/>
              </a:defRPr>
            </a:pPr>
            <a:r>
              <a:t>SAUDÁVEL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47088"/>
            <a:ext cx="10652760" cy="91440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5600" b="0">
                <a:solidFill>
                  <a:srgbClr val="F3F3EB"/>
                </a:solidFill>
                <a:latin typeface="Lora"/>
              </a:defRPr>
            </a:pPr>
            <a:r>
              <a:t>Mais clareza.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898648"/>
            <a:ext cx="10652760" cy="91440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5600" b="0">
                <a:solidFill>
                  <a:srgbClr val="F4B393"/>
                </a:solidFill>
                <a:latin typeface="Lora"/>
              </a:defRPr>
            </a:pPr>
            <a:r>
              <a:t>Menos ciladas.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70248"/>
            <a:ext cx="10332720" cy="548640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300" b="0">
                <a:solidFill>
                  <a:srgbClr val="B9C9BC"/>
                </a:solidFill>
                <a:latin typeface="Arial"/>
              </a:defRPr>
            </a:pPr>
            <a:r>
              <a:t>Perguntar, confirmar e escolher com mais calma.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5138928"/>
            <a:ext cx="2423160" cy="594360"/>
          </a:xfrm>
          <a:prstGeom prst="roundRect">
            <a:avLst>
              <a:gd name="adj" fmla="val 13000"/>
            </a:avLst>
          </a:prstGeom>
          <a:solidFill>
            <a:srgbClr val="F4B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276088"/>
            <a:ext cx="2240280" cy="34747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 algn="ctr">
              <a:lnSpc>
                <a:spcPct val="118000"/>
              </a:lnSpc>
              <a:spcAft>
                <a:spcPts val="800"/>
              </a:spcAft>
              <a:defRPr sz="2100" b="1">
                <a:solidFill>
                  <a:srgbClr val="0B1510"/>
                </a:solidFill>
                <a:latin typeface="Arial"/>
              </a:defRPr>
            </a:pPr>
            <a:r>
              <a:t>Perguntas?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5376672"/>
            <a:ext cx="4846320" cy="402336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 algn="r">
              <a:lnSpc>
                <a:spcPct val="118000"/>
              </a:lnSpc>
              <a:spcAft>
                <a:spcPts val="800"/>
              </a:spcAft>
              <a:defRPr sz="2200" b="0">
                <a:solidFill>
                  <a:srgbClr val="F3F3EB"/>
                </a:solidFill>
                <a:latin typeface="Arial"/>
              </a:defRPr>
            </a:pPr>
            <a:r>
              <a:t>Larissa  ·  Lavínia  ·  Raissa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6364224"/>
            <a:ext cx="10789920" cy="12801"/>
          </a:xfrm>
          <a:prstGeom prst="rect">
            <a:avLst/>
          </a:prstGeom>
          <a:solidFill>
            <a:srgbClr val="35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6492240"/>
            <a:ext cx="9692640" cy="210312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000" b="0">
                <a:solidFill>
                  <a:srgbClr val="B9C9BC"/>
                </a:solidFill>
                <a:latin typeface="Arial"/>
              </a:defRPr>
            </a:pPr>
            <a:r>
              <a:t>Saudável IA  ·  Do Zero ao Ar  ·  Afesu Veleiros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64808"/>
            <a:ext cx="594360" cy="237744"/>
          </a:xfrm>
          <a:prstGeom prst="rect">
            <a:avLst/>
          </a:prstGeom>
          <a:noFill/>
        </p:spPr>
        <p:txBody>
          <a:bodyPr wrap="square" lIns="9144" rIns="9144" tIns="18288" bIns="0">
            <a:spAutoFit/>
          </a:bodyPr>
          <a:lstStyle/>
          <a:p>
            <a:pPr algn="r">
              <a:lnSpc>
                <a:spcPct val="118000"/>
              </a:lnSpc>
              <a:spcAft>
                <a:spcPts val="800"/>
              </a:spcAft>
              <a:defRPr sz="1100" b="0">
                <a:solidFill>
                  <a:srgbClr val="F4B393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Saudável IA — Do Zero ao Ar</dc:title>
  <dc:subject>Projeto de Larissa, Lavínia e Raissa — Afesu Veleiros 2026</dc:subject>
  <dc:creator>Larissa, Lavínia e Raissa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